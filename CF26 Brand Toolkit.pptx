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6" r:id="rId5"/>
    <p:sldMasterId id="214748365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Berkshire Swash"/>
      <p:regular r:id="rId24"/>
    </p:embeddedFont>
    <p:embeddedFont>
      <p:font typeface="Montserrat Black"/>
      <p:bold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ora"/>
      <p:regular r:id="rId31"/>
      <p:bold r:id="rId32"/>
      <p:italic r:id="rId33"/>
      <p:boldItalic r:id="rId34"/>
    </p:embeddedFont>
    <p:embeddedFont>
      <p:font typeface="Gill Sans"/>
      <p:regular r:id="rId35"/>
      <p:bold r:id="rId36"/>
    </p:embeddedFont>
    <p:embeddedFont>
      <p:font typeface="Long Cang"/>
      <p:regular r:id="rId37"/>
    </p:embeddedFont>
    <p:embeddedFont>
      <p:font typeface="Archivo Black"/>
      <p:regular r:id="rId38"/>
    </p:embeddedFont>
    <p:embeddedFont>
      <p:font typeface="Comfortaa"/>
      <p:regular r:id="rId39"/>
      <p:bold r:id="rId40"/>
    </p:embeddedFont>
    <p:embeddedFont>
      <p:font typeface="Playfair Display Black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lexandra Maxto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mfortaa-bold.fntdata"/><Relationship Id="rId20" Type="http://schemas.openxmlformats.org/officeDocument/2006/relationships/slide" Target="slides/slide13.xml"/><Relationship Id="rId42" Type="http://schemas.openxmlformats.org/officeDocument/2006/relationships/font" Target="fonts/PlayfairDisplayBlack-boldItalic.fntdata"/><Relationship Id="rId41" Type="http://schemas.openxmlformats.org/officeDocument/2006/relationships/font" Target="fonts/PlayfairDisplayBlack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BerkshireSwash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MontserratBlack-boldItalic.fntdata"/><Relationship Id="rId25" Type="http://schemas.openxmlformats.org/officeDocument/2006/relationships/font" Target="fonts/MontserratBlack-bold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ora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4.xml"/><Relationship Id="rId33" Type="http://schemas.openxmlformats.org/officeDocument/2006/relationships/font" Target="fonts/Lora-italic.fntdata"/><Relationship Id="rId10" Type="http://schemas.openxmlformats.org/officeDocument/2006/relationships/slide" Target="slides/slide3.xml"/><Relationship Id="rId32" Type="http://schemas.openxmlformats.org/officeDocument/2006/relationships/font" Target="fonts/Lora-bold.fntdata"/><Relationship Id="rId13" Type="http://schemas.openxmlformats.org/officeDocument/2006/relationships/slide" Target="slides/slide6.xml"/><Relationship Id="rId35" Type="http://schemas.openxmlformats.org/officeDocument/2006/relationships/font" Target="fonts/GillSans-regular.fntdata"/><Relationship Id="rId12" Type="http://schemas.openxmlformats.org/officeDocument/2006/relationships/slide" Target="slides/slide5.xml"/><Relationship Id="rId34" Type="http://schemas.openxmlformats.org/officeDocument/2006/relationships/font" Target="fonts/Lora-boldItalic.fntdata"/><Relationship Id="rId15" Type="http://schemas.openxmlformats.org/officeDocument/2006/relationships/slide" Target="slides/slide8.xml"/><Relationship Id="rId37" Type="http://schemas.openxmlformats.org/officeDocument/2006/relationships/font" Target="fonts/LongCang-regular.fntdata"/><Relationship Id="rId14" Type="http://schemas.openxmlformats.org/officeDocument/2006/relationships/slide" Target="slides/slide7.xml"/><Relationship Id="rId36" Type="http://schemas.openxmlformats.org/officeDocument/2006/relationships/font" Target="fonts/GillSans-bold.fntdata"/><Relationship Id="rId17" Type="http://schemas.openxmlformats.org/officeDocument/2006/relationships/slide" Target="slides/slide10.xml"/><Relationship Id="rId39" Type="http://schemas.openxmlformats.org/officeDocument/2006/relationships/font" Target="fonts/Comfortaa-regular.fntdata"/><Relationship Id="rId16" Type="http://schemas.openxmlformats.org/officeDocument/2006/relationships/slide" Target="slides/slide9.xml"/><Relationship Id="rId38" Type="http://schemas.openxmlformats.org/officeDocument/2006/relationships/font" Target="fonts/ArchivoBlack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2T06:13:59.374">
    <p:pos x="3300" y="1103"/>
    <p:text>New CF26 templates, but need to transfer into CF26 canva (I am having trouble accessing with TFA) https://canva.link/ptsdru9obsp32xi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abcd50faf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6abcd50faf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ad5bcbd93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ad5bcbd93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abcd50faf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abcd50faf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ed66f20e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ed66f20e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ed66f20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ed66f20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ed66f20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ed66f20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ad5bcbd93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ad5bcbd93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ad5bcb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ad5bcb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ad5bcbd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ad5bcbd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ad5bcbd93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ad5bcbd93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abcd50fa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abcd50fa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https://mariahalthoff.com/blog/typography-dos-and-donts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abcd50fa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abcd50fa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abcd50faf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abcd50faf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c6d5416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c6d5416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ed66f20e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ed66f20e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B81A20"/>
                </a:solidFill>
              </a:defRPr>
            </a:lvl1pPr>
            <a:lvl2pPr lvl="1">
              <a:buNone/>
              <a:defRPr>
                <a:solidFill>
                  <a:srgbClr val="B81A20"/>
                </a:solidFill>
              </a:defRPr>
            </a:lvl2pPr>
            <a:lvl3pPr lvl="2">
              <a:buNone/>
              <a:defRPr>
                <a:solidFill>
                  <a:srgbClr val="B81A20"/>
                </a:solidFill>
              </a:defRPr>
            </a:lvl3pPr>
            <a:lvl4pPr lvl="3">
              <a:buNone/>
              <a:defRPr>
                <a:solidFill>
                  <a:srgbClr val="B81A20"/>
                </a:solidFill>
              </a:defRPr>
            </a:lvl4pPr>
            <a:lvl5pPr lvl="4">
              <a:buNone/>
              <a:defRPr>
                <a:solidFill>
                  <a:srgbClr val="B81A20"/>
                </a:solidFill>
              </a:defRPr>
            </a:lvl5pPr>
            <a:lvl6pPr lvl="5">
              <a:buNone/>
              <a:defRPr>
                <a:solidFill>
                  <a:srgbClr val="B81A20"/>
                </a:solidFill>
              </a:defRPr>
            </a:lvl6pPr>
            <a:lvl7pPr lvl="6">
              <a:buNone/>
              <a:defRPr>
                <a:solidFill>
                  <a:srgbClr val="B81A20"/>
                </a:solidFill>
              </a:defRPr>
            </a:lvl7pPr>
            <a:lvl8pPr lvl="7">
              <a:buNone/>
              <a:defRPr>
                <a:solidFill>
                  <a:srgbClr val="B81A20"/>
                </a:solidFill>
              </a:defRPr>
            </a:lvl8pPr>
            <a:lvl9pPr lvl="8">
              <a:buNone/>
              <a:defRPr>
                <a:solidFill>
                  <a:srgbClr val="B81A2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D4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Black"/>
              <a:buChar char="●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○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■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●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○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■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●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○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■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Montserrat Black"/>
              <a:buNone/>
              <a:defRPr sz="5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B81A20"/>
                </a:solidFill>
              </a:defRPr>
            </a:lvl1pPr>
            <a:lvl2pPr lvl="1">
              <a:buNone/>
              <a:defRPr>
                <a:solidFill>
                  <a:srgbClr val="B81A20"/>
                </a:solidFill>
              </a:defRPr>
            </a:lvl2pPr>
            <a:lvl3pPr lvl="2">
              <a:buNone/>
              <a:defRPr>
                <a:solidFill>
                  <a:srgbClr val="B81A20"/>
                </a:solidFill>
              </a:defRPr>
            </a:lvl3pPr>
            <a:lvl4pPr lvl="3">
              <a:buNone/>
              <a:defRPr>
                <a:solidFill>
                  <a:srgbClr val="B81A20"/>
                </a:solidFill>
              </a:defRPr>
            </a:lvl4pPr>
            <a:lvl5pPr lvl="4">
              <a:buNone/>
              <a:defRPr>
                <a:solidFill>
                  <a:srgbClr val="B81A20"/>
                </a:solidFill>
              </a:defRPr>
            </a:lvl5pPr>
            <a:lvl6pPr lvl="5">
              <a:buNone/>
              <a:defRPr>
                <a:solidFill>
                  <a:srgbClr val="B81A20"/>
                </a:solidFill>
              </a:defRPr>
            </a:lvl6pPr>
            <a:lvl7pPr lvl="6">
              <a:buNone/>
              <a:defRPr>
                <a:solidFill>
                  <a:srgbClr val="B81A20"/>
                </a:solidFill>
              </a:defRPr>
            </a:lvl7pPr>
            <a:lvl8pPr lvl="7">
              <a:buNone/>
              <a:defRPr>
                <a:solidFill>
                  <a:srgbClr val="B81A20"/>
                </a:solidFill>
              </a:defRPr>
            </a:lvl8pPr>
            <a:lvl9pPr lvl="8">
              <a:buNone/>
              <a:defRPr>
                <a:solidFill>
                  <a:srgbClr val="B81A2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D4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Black"/>
              <a:buChar char="●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○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■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●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○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■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●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○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Char char="■"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B81A20"/>
                </a:solidFill>
              </a:defRPr>
            </a:lvl1pPr>
            <a:lvl2pPr lvl="1" algn="r">
              <a:buNone/>
              <a:defRPr sz="1000">
                <a:solidFill>
                  <a:srgbClr val="B81A20"/>
                </a:solidFill>
              </a:defRPr>
            </a:lvl2pPr>
            <a:lvl3pPr lvl="2" algn="r">
              <a:buNone/>
              <a:defRPr sz="1000">
                <a:solidFill>
                  <a:srgbClr val="B81A20"/>
                </a:solidFill>
              </a:defRPr>
            </a:lvl3pPr>
            <a:lvl4pPr lvl="3" algn="r">
              <a:buNone/>
              <a:defRPr sz="1000">
                <a:solidFill>
                  <a:srgbClr val="B81A20"/>
                </a:solidFill>
              </a:defRPr>
            </a:lvl4pPr>
            <a:lvl5pPr lvl="4" algn="r">
              <a:buNone/>
              <a:defRPr sz="1000">
                <a:solidFill>
                  <a:srgbClr val="B81A20"/>
                </a:solidFill>
              </a:defRPr>
            </a:lvl5pPr>
            <a:lvl6pPr lvl="5" algn="r">
              <a:buNone/>
              <a:defRPr sz="1000">
                <a:solidFill>
                  <a:srgbClr val="B81A20"/>
                </a:solidFill>
              </a:defRPr>
            </a:lvl6pPr>
            <a:lvl7pPr lvl="6" algn="r">
              <a:buNone/>
              <a:defRPr sz="1000">
                <a:solidFill>
                  <a:srgbClr val="B81A20"/>
                </a:solidFill>
              </a:defRPr>
            </a:lvl7pPr>
            <a:lvl8pPr lvl="7" algn="r">
              <a:buNone/>
              <a:defRPr sz="1000">
                <a:solidFill>
                  <a:srgbClr val="B81A20"/>
                </a:solidFill>
              </a:defRPr>
            </a:lvl8pPr>
            <a:lvl9pPr lvl="8" algn="r">
              <a:buNone/>
              <a:defRPr sz="1000">
                <a:solidFill>
                  <a:srgbClr val="B81A2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FE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B81A20"/>
                </a:solidFill>
              </a:defRPr>
            </a:lvl1pPr>
            <a:lvl2pPr lvl="1" algn="r">
              <a:buNone/>
              <a:defRPr sz="1000">
                <a:solidFill>
                  <a:srgbClr val="B81A20"/>
                </a:solidFill>
              </a:defRPr>
            </a:lvl2pPr>
            <a:lvl3pPr lvl="2" algn="r">
              <a:buNone/>
              <a:defRPr sz="1000">
                <a:solidFill>
                  <a:srgbClr val="B81A20"/>
                </a:solidFill>
              </a:defRPr>
            </a:lvl3pPr>
            <a:lvl4pPr lvl="3" algn="r">
              <a:buNone/>
              <a:defRPr sz="1000">
                <a:solidFill>
                  <a:srgbClr val="B81A20"/>
                </a:solidFill>
              </a:defRPr>
            </a:lvl4pPr>
            <a:lvl5pPr lvl="4" algn="r">
              <a:buNone/>
              <a:defRPr sz="1000">
                <a:solidFill>
                  <a:srgbClr val="B81A20"/>
                </a:solidFill>
              </a:defRPr>
            </a:lvl5pPr>
            <a:lvl6pPr lvl="5" algn="r">
              <a:buNone/>
              <a:defRPr sz="1000">
                <a:solidFill>
                  <a:srgbClr val="B81A20"/>
                </a:solidFill>
              </a:defRPr>
            </a:lvl6pPr>
            <a:lvl7pPr lvl="6" algn="r">
              <a:buNone/>
              <a:defRPr sz="1000">
                <a:solidFill>
                  <a:srgbClr val="B81A20"/>
                </a:solidFill>
              </a:defRPr>
            </a:lvl7pPr>
            <a:lvl8pPr lvl="7" algn="r">
              <a:buNone/>
              <a:defRPr sz="1000">
                <a:solidFill>
                  <a:srgbClr val="B81A20"/>
                </a:solidFill>
              </a:defRPr>
            </a:lvl8pPr>
            <a:lvl9pPr lvl="8" algn="r">
              <a:buNone/>
              <a:defRPr sz="1000">
                <a:solidFill>
                  <a:srgbClr val="B81A2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drive/u/0/folders/1VQalHL2-ycv7F8r1SKu5wuJ8cQjAPHfn" TargetMode="External"/><Relationship Id="rId4" Type="http://schemas.openxmlformats.org/officeDocument/2006/relationships/image" Target="../media/image21.png"/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9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hyperlink" Target="https://drive.google.com/drive/u/0/folders/1VyJHsZtXJKq31n1uJrNTHzjkmmu_YG-J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drive/folders/18SdxZDbarUtIYmuCpZPDCOSRDbrLLmaN?usp=drive_link" TargetMode="External"/><Relationship Id="rId4" Type="http://schemas.openxmlformats.org/officeDocument/2006/relationships/hyperlink" Target="https://swe.org/membership/member-resources/swe-brand-guidelines-logos-and-templates/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_RJQz-IkL2XW3Ysuy3AVjclA8LekaYLxEiLQgbsf4ic/edit?tab=t.0" TargetMode="External"/><Relationship Id="rId4" Type="http://schemas.openxmlformats.org/officeDocument/2006/relationships/hyperlink" Target="https://docs.google.com/document/d/1_RJQz-IkL2XW3Ysuy3AVjclA8LekaYLxEiLQgbsf4ic/edit?tab=t.0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Relationship Id="rId5" Type="http://schemas.openxmlformats.org/officeDocument/2006/relationships/hyperlink" Target="https://www.canva.com/design/DAGtEMlCp10/ldKdfCE-XbUvMSXJFTC8lA/edit?utm_content=DAGtEMlCp10&amp;utm_campaign=designshare&amp;utm_medium=link2&amp;utm_source=sharebutt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ctrTitle"/>
          </p:nvPr>
        </p:nvSpPr>
        <p:spPr>
          <a:xfrm>
            <a:off x="375333" y="17987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CF26 Brand Toolkit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" name="Google Shape;52;p11"/>
          <p:cNvSpPr txBox="1"/>
          <p:nvPr>
            <p:ph idx="1" type="subTitle"/>
          </p:nvPr>
        </p:nvSpPr>
        <p:spPr>
          <a:xfrm>
            <a:off x="311700" y="42790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questions</a:t>
            </a:r>
            <a:r>
              <a:rPr lang="en">
                <a:latin typeface="Gill Sans"/>
                <a:ea typeface="Gill Sans"/>
                <a:cs typeface="Gill Sans"/>
                <a:sym typeface="Gill Sans"/>
              </a:rPr>
              <a:t> -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contact </a:t>
            </a:r>
            <a:r>
              <a:rPr lang="en">
                <a:latin typeface="Gill Sans"/>
                <a:ea typeface="Gill Sans"/>
                <a:cs typeface="Gill Sans"/>
                <a:sym typeface="Gill Sans"/>
              </a:rPr>
              <a:t>Serena Flaxenburg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(</a:t>
            </a:r>
            <a:r>
              <a:rPr lang="en">
                <a:latin typeface="Gill Sans"/>
                <a:ea typeface="Gill Sans"/>
                <a:cs typeface="Gill Sans"/>
                <a:sym typeface="Gill Sans"/>
              </a:rPr>
              <a:t>sgflax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@umich.edu)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Content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-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Logo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-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SWE/TBP Logo Rules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-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Color palette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-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Fonts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-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Slides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-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Documents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-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Email signature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Logo (1/2) 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70975" y="2698325"/>
            <a:ext cx="511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Original logo (without CF25 title)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70975" y="3921025"/>
            <a:ext cx="511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Simplified logo </a:t>
            </a:r>
            <a:r>
              <a:rPr b="1" lang="en" sz="18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(favicon)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70975" y="2123600"/>
            <a:ext cx="72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Should be used when there is no explicit context of CF26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470975" y="3094875"/>
            <a:ext cx="8437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Should be used when there is an explicit context of CF25 (e.g., ‘Fall Eng Career Fair’ is already in the titles)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70975" y="4382725"/>
            <a:ext cx="72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not a logo and use should be avoided, except in big banners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70" name="Google Shape;70;p13" title="cf_black_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1796" y="902571"/>
            <a:ext cx="1302575" cy="130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cf_blue_ver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3375" y="964425"/>
            <a:ext cx="1178850" cy="11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 txBox="1"/>
          <p:nvPr/>
        </p:nvSpPr>
        <p:spPr>
          <a:xfrm>
            <a:off x="470975" y="1171100"/>
            <a:ext cx="436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Logo files can be found </a:t>
            </a:r>
            <a:r>
              <a:rPr lang="en" sz="1800" u="sng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Original logo (with CF26 title)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73" name="Google Shape;73;p13" title="cf_color_horizont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43950" y="1045960"/>
            <a:ext cx="1474376" cy="101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 title="career_fair_yello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1525" y="2447575"/>
            <a:ext cx="500848" cy="78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 title="career_fair_gree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84938" y="2447575"/>
            <a:ext cx="500850" cy="78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 title="CF26Log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58125" y="2457603"/>
            <a:ext cx="500850" cy="77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 title="favicon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70274" y="3964675"/>
            <a:ext cx="620759" cy="101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Logo (2/2)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03400" y="1243850"/>
            <a:ext cx="4725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 of logo is not a must.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 not distort the logo, add borders or re-arrange the texts.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Size: make sure the slogan on the logo is readable upon printing/web display.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Position: 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preferably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on the center bottom or the right bottom (see right).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Background: do not use multiple colors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5825875" y="1085925"/>
            <a:ext cx="2663400" cy="35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5825875" y="1284050"/>
            <a:ext cx="26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 CF26 Flyer</a:t>
            </a:r>
            <a:endParaRPr b="1" i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801925" y="4108925"/>
            <a:ext cx="711300" cy="367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LOGO SPOT 1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724887" y="4107213"/>
            <a:ext cx="711300" cy="367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LOGO SPOT 2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SWE/TBP Logos - Links (</a:t>
            </a: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1/3</a:t>
            </a: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403400" y="1243850"/>
            <a:ext cx="4358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Attached </a:t>
            </a:r>
            <a:r>
              <a:rPr lang="en" sz="18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here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is a folder with commonly used SWE and TBP logos for promotional use.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SWE’s </a:t>
            </a:r>
            <a:r>
              <a:rPr lang="en" sz="18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member resources page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also has a wealth of different colors, guidelines, and AI files with their logo.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94" name="Google Shape;94;p15" title="TBP-horizont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8700" y="1017725"/>
            <a:ext cx="3480900" cy="93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title="swe_blue_tran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6825" y="2222674"/>
            <a:ext cx="2724662" cy="156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SWE/TBP Logos - Logo Use (2/3)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03400" y="1243850"/>
            <a:ext cx="4358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When utilizing the SWE and TBP logos, please only use high quality PNGs! Do not screenshot a logo and use it because those images are not scalable.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Additionally, please do not make additions or alterations to these 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logos as SWE and TBP have their own branding guidelines and IPs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2" name="Google Shape;102;p16" title="TBP-horizont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250" y="3259300"/>
            <a:ext cx="3480900" cy="93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 title="swe_blue_tra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1375" y="1353562"/>
            <a:ext cx="2724662" cy="156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SWE/TBP Logos - Order (3/3</a:t>
            </a: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03400" y="1243850"/>
            <a:ext cx="3203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When creating promotional materials with both the SWE and TBP logos, please put the SWE logo on the left and/or top and TBP logo on the bottom/right. In the interest of keeping all things equal, we sort the logos alphabetically, so SWE goes first.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0" name="Google Shape;110;p17" title="TBP-horizont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950" y="3804699"/>
            <a:ext cx="3076751" cy="83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swe_blue_tra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5489" y="3804700"/>
            <a:ext cx="1441766" cy="83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swe_blacks_tra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3899" y="1772713"/>
            <a:ext cx="993930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 title="tbp_black_tran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5275" y="2449834"/>
            <a:ext cx="1631175" cy="440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 title="tbp_black_trans.png"/>
          <p:cNvPicPr preferRelativeResize="0"/>
          <p:nvPr/>
        </p:nvPicPr>
        <p:blipFill rotWithShape="1">
          <a:blip r:embed="rId6">
            <a:alphaModFix/>
          </a:blip>
          <a:srcRect b="0" l="0" r="71649" t="0"/>
          <a:stretch/>
        </p:blipFill>
        <p:spPr>
          <a:xfrm>
            <a:off x="7675563" y="1894613"/>
            <a:ext cx="1084875" cy="103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 title="swe_blacks_tra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5051" y="1894625"/>
            <a:ext cx="1793083" cy="1033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3768925" y="3671097"/>
            <a:ext cx="5063400" cy="1229700"/>
          </a:xfrm>
          <a:prstGeom prst="rect">
            <a:avLst/>
          </a:prstGeom>
          <a:noFill/>
          <a:ln cap="flat" cmpd="sng" w="9525">
            <a:solidFill>
              <a:srgbClr val="0B30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7" name="Google Shape;117;p17"/>
          <p:cNvCxnSpPr/>
          <p:nvPr/>
        </p:nvCxnSpPr>
        <p:spPr>
          <a:xfrm>
            <a:off x="5480750" y="1542488"/>
            <a:ext cx="0" cy="157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Color Palette (1/4)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232825" y="449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Other colors may be used in a limited amount.</a:t>
            </a:r>
            <a:endParaRPr>
              <a:solidFill>
                <a:srgbClr val="454A65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2255925" y="2832600"/>
            <a:ext cx="3420600" cy="461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latin typeface="Gill Sans"/>
                <a:ea typeface="Gill Sans"/>
                <a:cs typeface="Gill Sans"/>
                <a:sym typeface="Gill Sans"/>
              </a:rPr>
              <a:t>#ffcb0aff</a:t>
            </a:r>
            <a:r>
              <a:rPr b="1" lang="en" sz="1000">
                <a:latin typeface="Gill Sans"/>
                <a:ea typeface="Gill Sans"/>
                <a:cs typeface="Gill Sans"/>
                <a:sym typeface="Gill Sans"/>
              </a:rPr>
              <a:t>        </a:t>
            </a:r>
            <a:r>
              <a:rPr b="1" lang="en" sz="1000">
                <a:latin typeface="Gill Sans"/>
                <a:ea typeface="Gill Sans"/>
                <a:cs typeface="Gill Sans"/>
                <a:sym typeface="Gill Sans"/>
              </a:rPr>
              <a:t>#454a65ff</a:t>
            </a:r>
            <a:r>
              <a:rPr b="1" lang="en" sz="1000"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b="1" lang="en" sz="1000">
                <a:latin typeface="Gill Sans"/>
                <a:ea typeface="Gill Sans"/>
                <a:cs typeface="Gill Sans"/>
                <a:sym typeface="Gill Sans"/>
              </a:rPr>
              <a:t>#8c8a51ff        #462e18</a:t>
            </a:r>
            <a:endParaRPr b="1" sz="1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530275" y="2259900"/>
            <a:ext cx="548700" cy="54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18"/>
          <p:cNvCxnSpPr/>
          <p:nvPr/>
        </p:nvCxnSpPr>
        <p:spPr>
          <a:xfrm>
            <a:off x="6804625" y="1555600"/>
            <a:ext cx="0" cy="57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8"/>
          <p:cNvSpPr txBox="1"/>
          <p:nvPr/>
        </p:nvSpPr>
        <p:spPr>
          <a:xfrm>
            <a:off x="5878200" y="983975"/>
            <a:ext cx="290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black and white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28" name="Google Shape;128;p18" title="CF26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450" y="1290600"/>
            <a:ext cx="1717870" cy="26738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/>
          <p:nvPr/>
        </p:nvSpPr>
        <p:spPr>
          <a:xfrm>
            <a:off x="6509425" y="2982375"/>
            <a:ext cx="590400" cy="572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0" name="Google Shape;130;p18"/>
          <p:cNvGrpSpPr/>
          <p:nvPr/>
        </p:nvGrpSpPr>
        <p:grpSpPr>
          <a:xfrm>
            <a:off x="2433025" y="2247900"/>
            <a:ext cx="3066388" cy="584700"/>
            <a:chOff x="2433025" y="2247900"/>
            <a:chExt cx="3066388" cy="584700"/>
          </a:xfrm>
        </p:grpSpPr>
        <p:sp>
          <p:nvSpPr>
            <p:cNvPr id="131" name="Google Shape;131;p18"/>
            <p:cNvSpPr/>
            <p:nvPr/>
          </p:nvSpPr>
          <p:spPr>
            <a:xfrm>
              <a:off x="2433025" y="2259900"/>
              <a:ext cx="590400" cy="572700"/>
            </a:xfrm>
            <a:prstGeom prst="ellipse">
              <a:avLst/>
            </a:prstGeom>
            <a:solidFill>
              <a:srgbClr val="FFCB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3287750" y="2247900"/>
              <a:ext cx="590400" cy="572700"/>
            </a:xfrm>
            <a:prstGeom prst="ellipse">
              <a:avLst/>
            </a:prstGeom>
            <a:solidFill>
              <a:srgbClr val="454A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4096600" y="2247900"/>
              <a:ext cx="590400" cy="572700"/>
            </a:xfrm>
            <a:prstGeom prst="ellipse">
              <a:avLst/>
            </a:prstGeom>
            <a:solidFill>
              <a:srgbClr val="8C8A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4909013" y="2247900"/>
              <a:ext cx="590400" cy="572700"/>
            </a:xfrm>
            <a:prstGeom prst="ellipse">
              <a:avLst/>
            </a:prstGeom>
            <a:solidFill>
              <a:srgbClr val="462E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638763" y="3276025"/>
            <a:ext cx="2790300" cy="1217100"/>
          </a:xfrm>
          <a:prstGeom prst="rect">
            <a:avLst/>
          </a:prstGeom>
          <a:solidFill>
            <a:srgbClr val="FFCB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4ECF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38750" y="1870700"/>
            <a:ext cx="2790300" cy="1217100"/>
          </a:xfrm>
          <a:prstGeom prst="rect">
            <a:avLst/>
          </a:prstGeom>
          <a:solidFill>
            <a:srgbClr val="454A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Color Palette (2/4)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526700" y="1131800"/>
            <a:ext cx="472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Do’s: high-contrast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4703300" y="1131800"/>
            <a:ext cx="412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Don’ts: low contrast, mixing dark colors, similar colors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784925" y="1825875"/>
            <a:ext cx="2790300" cy="1217100"/>
          </a:xfrm>
          <a:prstGeom prst="rect">
            <a:avLst/>
          </a:prstGeom>
          <a:solidFill>
            <a:srgbClr val="8C8A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81A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784925" y="3275350"/>
            <a:ext cx="2790300" cy="121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" name="Google Shape;146;p19" title="career_fair_yel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000" y="1957750"/>
            <a:ext cx="725326" cy="113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title="career_fair_yel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750" y="1869400"/>
            <a:ext cx="725326" cy="113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 title="career_fair_bl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0575" y="3319537"/>
            <a:ext cx="725326" cy="1130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title="career_fair_bl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3000" y="3318875"/>
            <a:ext cx="725326" cy="1130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311700" y="445025"/>
            <a:ext cx="49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Color Palette (3/4)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381025" y="1120600"/>
            <a:ext cx="472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Suggested color groups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6119350" y="275350"/>
            <a:ext cx="2790300" cy="140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6248800" y="275350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8C8A51"/>
                </a:solidFill>
                <a:latin typeface="Gill Sans"/>
                <a:ea typeface="Gill Sans"/>
                <a:cs typeface="Gill Sans"/>
                <a:sym typeface="Gill Sans"/>
              </a:rPr>
              <a:t>CF26</a:t>
            </a:r>
            <a:endParaRPr b="1" sz="1800">
              <a:solidFill>
                <a:srgbClr val="8C8A5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6119350" y="1785175"/>
            <a:ext cx="2790300" cy="140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097875" y="1812000"/>
            <a:ext cx="2790300" cy="1401900"/>
          </a:xfrm>
          <a:prstGeom prst="rect">
            <a:avLst/>
          </a:prstGeom>
          <a:solidFill>
            <a:srgbClr val="FFCB0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266150" y="1785175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CF26</a:t>
            </a:r>
            <a:endParaRPr b="1" sz="1800">
              <a:solidFill>
                <a:srgbClr val="454A65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3097875" y="3298025"/>
            <a:ext cx="2790300" cy="1401900"/>
          </a:xfrm>
          <a:prstGeom prst="rect">
            <a:avLst/>
          </a:prstGeom>
          <a:solidFill>
            <a:srgbClr val="FFCB0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154050" y="1812000"/>
            <a:ext cx="2790300" cy="1401900"/>
          </a:xfrm>
          <a:prstGeom prst="rect">
            <a:avLst/>
          </a:prstGeom>
          <a:solidFill>
            <a:srgbClr val="454A6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283500" y="1823750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CB0A"/>
                </a:solidFill>
                <a:latin typeface="Gill Sans"/>
                <a:ea typeface="Gill Sans"/>
                <a:cs typeface="Gill Sans"/>
                <a:sym typeface="Gill Sans"/>
              </a:rPr>
              <a:t>CF26</a:t>
            </a:r>
            <a:endParaRPr b="1" sz="1800">
              <a:solidFill>
                <a:srgbClr val="FFCB0A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54050" y="3271275"/>
            <a:ext cx="2790300" cy="1401900"/>
          </a:xfrm>
          <a:prstGeom prst="rect">
            <a:avLst/>
          </a:prstGeom>
          <a:solidFill>
            <a:srgbClr val="454A6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35238" y="3271275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FEFEF"/>
                </a:solidFill>
                <a:latin typeface="Gill Sans"/>
                <a:ea typeface="Gill Sans"/>
                <a:cs typeface="Gill Sans"/>
                <a:sym typeface="Gill Sans"/>
              </a:rPr>
              <a:t>CF26</a:t>
            </a:r>
            <a:endParaRPr b="1" sz="1800">
              <a:solidFill>
                <a:srgbClr val="EFEFE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248800" y="3434750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Get ready for CF25!</a:t>
            </a:r>
            <a:endParaRPr b="1" i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" name="Google Shape;167;p20" title="CF25_logo_black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100" y="3295000"/>
            <a:ext cx="1828799" cy="18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/>
          <p:nvPr/>
        </p:nvSpPr>
        <p:spPr>
          <a:xfrm>
            <a:off x="3097850" y="3298025"/>
            <a:ext cx="2790300" cy="14019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266150" y="3213900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CF26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0" name="Google Shape;170;p20" title="career_fair_yel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838" y="2232073"/>
            <a:ext cx="600163" cy="93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title="career_fair_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0584" y="3640800"/>
            <a:ext cx="637237" cy="99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title="career_fair_blu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0774" y="2221030"/>
            <a:ext cx="637250" cy="99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title="career_fair_black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8650" y="3644018"/>
            <a:ext cx="637250" cy="992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title="career_fair_gree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44799" y="670259"/>
            <a:ext cx="637250" cy="99281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6119350" y="1785175"/>
            <a:ext cx="2790300" cy="140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248800" y="1785175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CF26</a:t>
            </a:r>
            <a:endParaRPr b="1" sz="1800">
              <a:solidFill>
                <a:srgbClr val="454A65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119400" y="3295000"/>
            <a:ext cx="2790300" cy="1401900"/>
          </a:xfrm>
          <a:prstGeom prst="rect">
            <a:avLst/>
          </a:prstGeom>
          <a:solidFill>
            <a:srgbClr val="462E1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248850" y="3295000"/>
            <a:ext cx="25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CF26</a:t>
            </a:r>
            <a:endParaRPr b="1"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9" name="Google Shape;179;p20" title="career_fair_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5884" y="3675725"/>
            <a:ext cx="637237" cy="99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title="career_fair_blu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9699" y="2172955"/>
            <a:ext cx="637250" cy="99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Fonts (1/2)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Gill Sans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Titles and short texts, for presentations and documents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Gill Sans Semi Bold </a:t>
            </a:r>
            <a:r>
              <a:rPr lang="en"/>
              <a:t>- titles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Gill Sans Regular</a:t>
            </a:r>
            <a:r>
              <a:rPr lang="en"/>
              <a:t> - short texts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Lora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Long texts, for documents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Lora Normal</a:t>
            </a:r>
            <a:r>
              <a:rPr b="1" lang="en">
                <a:latin typeface="Lora"/>
                <a:ea typeface="Lora"/>
                <a:cs typeface="Lora"/>
                <a:sym typeface="Lora"/>
              </a:rPr>
              <a:t>/Bold </a:t>
            </a:r>
            <a:r>
              <a:rPr lang="en"/>
              <a:t>- long texts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>
            <a:off x="4569750" y="1963275"/>
            <a:ext cx="3978000" cy="27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23575" y="1963275"/>
            <a:ext cx="3978000" cy="27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Fonts (2/2)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Other appropriate fonts may be used for design purposes (e.g., poster title, highlight texts) only.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499775" y="1990025"/>
            <a:ext cx="3776400" cy="2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Do’s:</a:t>
            </a:r>
            <a:r>
              <a:rPr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 sans-serif fonts </a:t>
            </a:r>
            <a:r>
              <a:rPr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easily readable</a:t>
            </a:r>
            <a:r>
              <a:rPr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 for digital screens and large texts, any artistic and readable fonts</a:t>
            </a:r>
            <a:endParaRPr sz="1800">
              <a:solidFill>
                <a:srgbClr val="454A65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4645950" y="1990025"/>
            <a:ext cx="3776400" cy="23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Don’ts:</a:t>
            </a:r>
            <a:r>
              <a:rPr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too </a:t>
            </a:r>
            <a:r>
              <a:rPr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cartoonish, causal, difficult-to-read, similar/</a:t>
            </a:r>
            <a:r>
              <a:rPr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interchangeable</a:t>
            </a:r>
            <a:r>
              <a:rPr lang="en" sz="1800">
                <a:solidFill>
                  <a:srgbClr val="454A65"/>
                </a:solidFill>
                <a:latin typeface="Gill Sans"/>
                <a:ea typeface="Gill Sans"/>
                <a:cs typeface="Gill Sans"/>
                <a:sym typeface="Gill Sans"/>
              </a:rPr>
              <a:t> with official fonts</a:t>
            </a:r>
            <a:endParaRPr sz="1800">
              <a:solidFill>
                <a:srgbClr val="454A65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2169475" y="3557425"/>
            <a:ext cx="19719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Career Fair</a:t>
            </a:r>
            <a:endParaRPr b="1"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4799125" y="3407250"/>
            <a:ext cx="205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ong Cang"/>
                <a:ea typeface="Long Cang"/>
                <a:cs typeface="Long Cang"/>
                <a:sym typeface="Long Cang"/>
              </a:rPr>
              <a:t>Career Fair</a:t>
            </a:r>
            <a:endParaRPr b="1" sz="1800">
              <a:solidFill>
                <a:schemeClr val="dk1"/>
              </a:solidFill>
              <a:latin typeface="Long Cang"/>
              <a:ea typeface="Long Cang"/>
              <a:cs typeface="Long Cang"/>
              <a:sym typeface="Long Cang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654500" y="3800850"/>
            <a:ext cx="258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Career Fair (interchangeable) </a:t>
            </a:r>
            <a:endParaRPr b="1" sz="18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654950" y="3407250"/>
            <a:ext cx="19719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Career Fair</a:t>
            </a:r>
            <a:endParaRPr b="1" sz="1800">
              <a:solidFill>
                <a:schemeClr val="dk1"/>
              </a:solidFill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1452925" y="4110325"/>
            <a:ext cx="1620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Career Fair</a:t>
            </a:r>
            <a:endParaRPr sz="1800">
              <a:solidFill>
                <a:schemeClr val="dk1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Slides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311700" y="115247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Font size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Main texts s</a:t>
            </a:r>
            <a:r>
              <a:rPr lang="en">
                <a:latin typeface="Gill Sans"/>
                <a:ea typeface="Gill Sans"/>
                <a:cs typeface="Gill Sans"/>
                <a:sym typeface="Gill Sans"/>
              </a:rPr>
              <a:t>hould be 18 pt or larger. Slide titles should be 24 pt or larger.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Font type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Gill Sans Regular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Bullet point style 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None, i</a:t>
            </a:r>
            <a:r>
              <a:rPr lang="en">
                <a:latin typeface="Gill Sans"/>
                <a:ea typeface="Gill Sans"/>
                <a:cs typeface="Gill Sans"/>
                <a:sym typeface="Gill Sans"/>
              </a:rPr>
              <a:t>ndentation only or ‘-’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Documents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Document example can be found </a:t>
            </a:r>
            <a:r>
              <a:rPr lang="en" u="sng">
                <a:solidFill>
                  <a:schemeClr val="hlink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  <a:hlinkClick r:id="rId3"/>
              </a:rPr>
              <a:t>here</a:t>
            </a:r>
            <a:r>
              <a:rPr lang="en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Line spacing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Gill Sans"/>
                <a:ea typeface="Gill Sans"/>
                <a:cs typeface="Gill Sans"/>
                <a:sym typeface="Gill Sans"/>
              </a:rPr>
              <a:t>1.15 - 1.5 spacing between lines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F</a:t>
            </a:r>
            <a:r>
              <a:rPr b="1" lang="en" sz="1800">
                <a:latin typeface="Gill Sans"/>
                <a:ea typeface="Gill Sans"/>
                <a:cs typeface="Gill Sans"/>
                <a:sym typeface="Gill Sans"/>
              </a:rPr>
              <a:t>ont size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Gill Sans"/>
                <a:ea typeface="Gill Sans"/>
                <a:cs typeface="Gill Sans"/>
                <a:sym typeface="Gill Sans"/>
              </a:rPr>
              <a:t>between 12 and 14 pt 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Promotional Materials (1/2) - Flyers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5239775" y="1152475"/>
            <a:ext cx="359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●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Dos: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Char char="○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Include the “Hosted By” section in top-right corner with TBP/SWE logos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Char char="○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Include the CF26 logo and website URL in the bottom-right corner</a:t>
            </a:r>
            <a:br>
              <a:rPr lang="en">
                <a:latin typeface="Gill Sans"/>
                <a:ea typeface="Gill Sans"/>
                <a:cs typeface="Gill Sans"/>
                <a:sym typeface="Gill Sans"/>
              </a:rPr>
            </a:b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●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Samples (left) provided as an example – not needed to follow stringently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0" name="Google Shape;220;p25" title="Diag boards template_01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50" y="1170125"/>
            <a:ext cx="2310499" cy="357123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1" name="Google Shape;221;p25" title="Diag boards template_01-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866" y="1170125"/>
            <a:ext cx="2310509" cy="357126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24" y="1345650"/>
            <a:ext cx="4934974" cy="24522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Promotional Materials (2/2) - Flyers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26"/>
          <p:cNvSpPr txBox="1"/>
          <p:nvPr>
            <p:ph idx="1" type="body"/>
          </p:nvPr>
        </p:nvSpPr>
        <p:spPr>
          <a:xfrm>
            <a:off x="5239800" y="1752550"/>
            <a:ext cx="3592500" cy="11622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●"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Click </a:t>
            </a:r>
            <a:r>
              <a:rPr lang="en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5"/>
              </a:rPr>
              <a:t>here</a:t>
            </a:r>
            <a:r>
              <a:rPr lang="en">
                <a:latin typeface="Gill Sans"/>
                <a:ea typeface="Gill Sans"/>
                <a:cs typeface="Gill Sans"/>
                <a:sym typeface="Gill Sans"/>
              </a:rPr>
              <a:t> for a canva template to copy and add your info for flyers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F2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F2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